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1f9cee58034743" /><Relationship Type="http://schemas.openxmlformats.org/officeDocument/2006/relationships/extended-properties" Target="/docProps/app.xml" Id="R102153e645d9468a" /><Relationship Type="http://schemas.openxmlformats.org/officeDocument/2006/relationships/officeDocument" Target="/ppt/presentation.xml" Id="Rd8a76ff506424f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50cff800444353"/>
  </p:sldMasterIdLst>
  <p:notesMasterIdLst>
    <p:notesMasterId xmlns:r="http://schemas.openxmlformats.org/officeDocument/2006/relationships" r:id="R95f13d6b90684f73"/>
  </p:notesMasterIdLst>
  <p:sldIdLst>
    <p:sldId xmlns:r="http://schemas.openxmlformats.org/officeDocument/2006/relationships" id="256" r:id="R91a7e682d7a84a40"/>
    <p:sldId xmlns:r="http://schemas.openxmlformats.org/officeDocument/2006/relationships" id="257" r:id="Rf68efd3beb434de1"/>
    <p:sldId xmlns:r="http://schemas.openxmlformats.org/officeDocument/2006/relationships" id="258" r:id="R0a714e7fea104d06"/>
    <p:sldId xmlns:r="http://schemas.openxmlformats.org/officeDocument/2006/relationships" id="259" r:id="Rffab78c160ee4cff"/>
    <p:sldId xmlns:r="http://schemas.openxmlformats.org/officeDocument/2006/relationships" id="260" r:id="Rf89d9802b72a4aa0"/>
    <p:sldId xmlns:r="http://schemas.openxmlformats.org/officeDocument/2006/relationships" id="261" r:id="Rf6852b2e790d4091"/>
    <p:sldId xmlns:r="http://schemas.openxmlformats.org/officeDocument/2006/relationships" id="262" r:id="R9db055c4eafc41cc"/>
    <p:sldId xmlns:r="http://schemas.openxmlformats.org/officeDocument/2006/relationships" id="263" r:id="R6cd58e6aa02e44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22ff7b199e42f2" /><Relationship Type="http://schemas.openxmlformats.org/officeDocument/2006/relationships/slideMaster" Target="/ppt/slideMasters/slideMaster1.xml" Id="R1250cff800444353" /><Relationship Type="http://schemas.openxmlformats.org/officeDocument/2006/relationships/notesMaster" Target="/ppt/notesMasters/notesMaster1.xml" Id="R95f13d6b90684f73" /><Relationship Type="http://schemas.openxmlformats.org/officeDocument/2006/relationships/presProps" Target="/ppt/presProps.xml" Id="R061833340d6d4f42" /><Relationship Type="http://schemas.openxmlformats.org/officeDocument/2006/relationships/tableStyles" Target="/ppt/tableStyles.xml" Id="R12e1e1421abc4140" /><Relationship Type="http://schemas.openxmlformats.org/officeDocument/2006/relationships/slide" Target="/ppt/slides/slide1.xml" Id="R91a7e682d7a84a40" /><Relationship Type="http://schemas.openxmlformats.org/officeDocument/2006/relationships/slide" Target="/ppt/slides/slide2.xml" Id="Rf68efd3beb434de1" /><Relationship Type="http://schemas.openxmlformats.org/officeDocument/2006/relationships/slide" Target="/ppt/slides/slide3.xml" Id="R0a714e7fea104d06" /><Relationship Type="http://schemas.openxmlformats.org/officeDocument/2006/relationships/slide" Target="/ppt/slides/slide4.xml" Id="Rffab78c160ee4cff" /><Relationship Type="http://schemas.openxmlformats.org/officeDocument/2006/relationships/slide" Target="/ppt/slides/slide5.xml" Id="Rf89d9802b72a4aa0" /><Relationship Type="http://schemas.openxmlformats.org/officeDocument/2006/relationships/slide" Target="/ppt/slides/slide6.xml" Id="Rf6852b2e790d4091" /><Relationship Type="http://schemas.openxmlformats.org/officeDocument/2006/relationships/slide" Target="/ppt/slides/slide7.xml" Id="R9db055c4eafc41cc" /><Relationship Type="http://schemas.openxmlformats.org/officeDocument/2006/relationships/slide" Target="/ppt/slides/slide8.xml" Id="R6cd58e6aa02e44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55db46681244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67b01b1a494e2f" /><Relationship Type="http://schemas.openxmlformats.org/officeDocument/2006/relationships/notesMaster" Target="/ppt/notesMasters/notesMaster1.xml" Id="R40412d845d624f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4c0031943c47e1" /><Relationship Type="http://schemas.openxmlformats.org/officeDocument/2006/relationships/notesMaster" Target="/ppt/notesMasters/notesMaster1.xml" Id="R84c2c60acf0c43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ca864c2d0f463a" /><Relationship Type="http://schemas.openxmlformats.org/officeDocument/2006/relationships/notesMaster" Target="/ppt/notesMasters/notesMaster1.xml" Id="Rcd507ea68ded4b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b878b2db1347a4" /><Relationship Type="http://schemas.openxmlformats.org/officeDocument/2006/relationships/notesMaster" Target="/ppt/notesMasters/notesMaster1.xml" Id="R50b0e6906a1d4b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faa2e0c1af439d" /><Relationship Type="http://schemas.openxmlformats.org/officeDocument/2006/relationships/notesMaster" Target="/ppt/notesMasters/notesMaster1.xml" Id="R9b404ba3fcdf46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c2df45054549e1" /><Relationship Type="http://schemas.openxmlformats.org/officeDocument/2006/relationships/notesMaster" Target="/ppt/notesMasters/notesMaster1.xml" Id="Re0d7d3c7828744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04dabcbe5046f6" /><Relationship Type="http://schemas.openxmlformats.org/officeDocument/2006/relationships/notesMaster" Target="/ppt/notesMasters/notesMaster1.xml" Id="Rcf313317c0e649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393af1990b4b2f" /><Relationship Type="http://schemas.openxmlformats.org/officeDocument/2006/relationships/notesMaster" Target="/ppt/notesMasters/notesMaster1.xml" Id="Rdc1625e5ceaa4a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aa945fc5834c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24d5204edc4fa3" /><Relationship Type="http://schemas.openxmlformats.org/officeDocument/2006/relationships/slideLayout" Target="/ppt/slideLayouts/slideLayout1.xml" Id="R5c03b41baa0d49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03b41baa0d49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1b9bdb82844d0" /><Relationship Type="http://schemas.openxmlformats.org/officeDocument/2006/relationships/notesSlide" Target="/ppt/notesSlides/notesSlide1.xml" Id="R37688f328ef445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f7fa077ff4e99" /><Relationship Type="http://schemas.openxmlformats.org/officeDocument/2006/relationships/notesSlide" Target="/ppt/notesSlides/notesSlide2.xml" Id="R20ba7be8d9bf47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e404a51074c71" /><Relationship Type="http://schemas.openxmlformats.org/officeDocument/2006/relationships/notesSlide" Target="/ppt/notesSlides/notesSlide3.xml" Id="Rfb40ee7109b84e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9f08fa28c4c64" /><Relationship Type="http://schemas.openxmlformats.org/officeDocument/2006/relationships/notesSlide" Target="/ppt/notesSlides/notesSlide4.xml" Id="R40243d43b08947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de310503c414e" /><Relationship Type="http://schemas.openxmlformats.org/officeDocument/2006/relationships/chart" Target="/ppt/slides/charts/chart1.xml" Id="R4d380a811b7246ee" /><Relationship Type="http://schemas.openxmlformats.org/officeDocument/2006/relationships/notesSlide" Target="/ppt/notesSlides/notesSlide5.xml" Id="Ra3b2cc9e93a741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27ae887fb475a" /><Relationship Type="http://schemas.openxmlformats.org/officeDocument/2006/relationships/notesSlide" Target="/ppt/notesSlides/notesSlide6.xml" Id="R1f9d1e247f1642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6ec47b75c4f11" /><Relationship Type="http://schemas.openxmlformats.org/officeDocument/2006/relationships/notesSlide" Target="/ppt/notesSlides/notesSlide7.xml" Id="R6441d09508094d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deb61f7da45d6" /><Relationship Type="http://schemas.openxmlformats.org/officeDocument/2006/relationships/notesSlide" Target="/ppt/notesSlides/notesSlide8.xml" Id="R4a6df4ef61244c18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Isolation Forest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3"/>
              <c:pt idx="0">
                <c:v>Precision</c:v>
              </c:pt>
              <c:pt idx="1">
                <c:v>Recall</c:v>
              </c:pt>
              <c:pt idx="2">
                <c:v>F1</c:v>
              </c:pt>
            </c:strLit>
          </c:cat>
          <c:val>
            <c:numLit>
              <c:formatCode>General</c:formatCode>
              <c:ptCount val="3"/>
              <c:pt idx="0">
                <c:v>66.81</c:v>
              </c:pt>
              <c:pt idx="1">
                <c:v>54.83</c:v>
              </c:pt>
              <c:pt idx="2">
                <c:v>60.23</c:v>
              </c:pt>
            </c:numLit>
          </c:val>
        </c:ser>
        <c:ser>
          <c:idx val="1"/>
          <c:order val="1"/>
          <c:tx>
            <c:v>Правила + ML</c:v>
          </c:tx>
          <c:spPr>
            <a:ln xmlns:a="http://schemas.openxmlformats.org/drawingml/2006/main" w="38100">
              <a:solidFill>
                <a:srgbClr val="D84A4A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3"/>
              <c:pt idx="0">
                <c:v>Precision</c:v>
              </c:pt>
              <c:pt idx="1">
                <c:v>Recall</c:v>
              </c:pt>
              <c:pt idx="2">
                <c:v>F1</c:v>
              </c:pt>
            </c:strLit>
          </c:cat>
          <c:val>
            <c:numLit>
              <c:formatCode>General</c:formatCode>
              <c:ptCount val="3"/>
              <c:pt idx="0">
                <c:v>66.48</c:v>
              </c:pt>
              <c:pt idx="1">
                <c:v>62.93</c:v>
              </c:pt>
              <c:pt idx="2">
                <c:v>64.66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34881-B6A7-41DC-92C8-07CC5267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858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t>ИТОГОВАЯ ЗАЩИТА ИИ-ПРОЕКТА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7A8F9-D2C1-4A81-9F80-2EB20952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3345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Temperature
anomaly monitor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C2821-A3FD-4B13-A6EE-8771F40C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7810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t>От данных датчиков — к объяснимой тревоге без утечки данных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9C782-2B43-48FB-8341-5F04FBC9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19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6AE13-A149-49F2-9611-38B0E05D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90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</p:spTree>
    <p:extLst>
      <p:ext uri="{BB962C8B-B14F-4D97-AF65-F5344CB8AC3E}">
        <p14:creationId xmlns:p14="http://schemas.microsoft.com/office/powerpoint/2010/main" val="15173131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akeaway-title">
            <a:extLst xmlns:a="http://schemas.openxmlformats.org/drawingml/2006/main">
              <a:ext uri="{FF2B5EF4-FFF2-40B4-BE49-F238E27FC236}">
                <a16:creationId xmlns:a16="http://schemas.microsoft.com/office/drawing/2014/main" id="{E8B74D56-1476-407B-82F0-A1FC04E7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Задача — заметить опасное изменение раньше оператора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ED97F-1302-4E36-BB95-9E5B7918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11442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Температурный ряд похож на лабораторную кривую: одиночный выброс, быстрый рост и длительный перегрев означают разные физические ситуации. Поэтому системе нужны и строгие правила, и ML-контекст.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5DD80-BF63-4B46-BFCE-97256C21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381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1F3F5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4201D-7EAE-41F6-A7FA-7DBCFBE4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143250"/>
            <a:ext cx="5381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1F3F5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97566-0DAF-456B-BCE7-5992DCDA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Вход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45355-9A08-43E0-A583-8ABC27CB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47625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CSV: timestamp, sensor_id, temperature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350B1-65C3-468B-B66C-74483D03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290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Решение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DB33D-48B9-4131-891C-45FDC7CA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857625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alarm + причина + все сработавшие правила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90EE8-653B-4213-82EB-73595EC2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76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Данные проверяются до анализа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D0C82-6184-4F1B-A24C-980E0E05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4762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t>Пропуски и неверные типы не маскируются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E3BFA-5FB2-4233-9664-4A2B1688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953000"/>
            <a:ext cx="476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Результат можно перепроверить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82C41-96C7-471B-A534-82BA8172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334000"/>
            <a:ext cx="4762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t>Каждая тревога оставляет объяснение и запись события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B345B-6DFF-47A9-BD90-F69195C7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411022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akeaway-title">
            <a:extLst xmlns:a="http://schemas.openxmlformats.org/drawingml/2006/main">
              <a:ext uri="{FF2B5EF4-FFF2-40B4-BE49-F238E27FC236}">
                <a16:creationId xmlns:a16="http://schemas.microsoft.com/office/drawing/2014/main" id="{98FD8406-4CE3-452E-9A75-1ED6DE6A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713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Пайплайн разделяет подготовку, детектирование и объяснение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57200" y="3190875"/>
            <a:ext cx="11144250" cy="95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11111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F1CAA-4AC3-47A3-86C2-82382F85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18330-7DF3-4B1A-8229-3ED3249C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337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FA384-AFDF-4482-AFAC-F4B04EBF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337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4C865-F80C-4651-8B21-EA4066BB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 · ВХОД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1226D-EF3B-45DD-A0C1-FAEC76D2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4795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 · АНАЛИЗ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FBDFB-57BD-427F-AEEA-12C0B746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 · ВЫХОД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FB73C-BE9D-46E6-BC9A-5EF38FE8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304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Загрузка и качество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B6C66-BE0C-4143-ACB4-DF817336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3048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t>Схема, время, числовые значения, сортировка.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907D7-7AD9-4EE7-BBC6-57729AEE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62375"/>
            <a:ext cx="304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Правила + модель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0C511-1563-4AA1-94D8-6D40B0AD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67200"/>
            <a:ext cx="3048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t>Физические пороги и заранее обученный Isolation Forest.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419CD-BDE5-4296-8082-3676FB1B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62375"/>
            <a:ext cx="304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Тревога и журнал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9B4AB-1004-48DE-815B-3004089A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67200"/>
            <a:ext cx="3048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t>График, причина, все правила и воспроизводимый event log.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BABBD-2101-437D-B98A-6112C6B4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530982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keaway-title">
            <a:extLst xmlns:a="http://schemas.openxmlformats.org/drawingml/2006/main">
              <a:ext uri="{FF2B5EF4-FFF2-40B4-BE49-F238E27FC236}">
                <a16:creationId xmlns:a16="http://schemas.microsoft.com/office/drawing/2014/main" id="{2192774E-A731-4163-981E-76CFAEC9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373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Два детектора дополняют друг друга, но не смешивают роли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19130-6022-457A-B6B5-5B1F37AF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62125"/>
            <a:ext cx="33337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D5850-ED72-4DF5-9641-40E7D88B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62125"/>
            <a:ext cx="33337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40CE4-880F-4551-A0BA-581A32DE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62125"/>
            <a:ext cx="33337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D0ED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FE955-E3F9-4208-A053-25961AD6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9775"/>
            <a:ext cx="21431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ПРАВИЛА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E6460-E25B-4C13-94B0-8ED6A13A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9775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974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ISOLATION FOREST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A0BB1-1C18-4F9C-9522-9307C99E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9775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КОМБИНАЦИЯ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B26F4-C69E-42A1-9E36-EFBC513B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3333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Физика процесса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798FE-A989-48DC-8B35-0C1CBF17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3337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t>Абсолютный порог, скорость роста, длительность перегрева.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A8D9B-3EE6-4C34-9509-1BD5BCEB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33750"/>
            <a:ext cx="3333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Необычный профиль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4FD1D-D13C-4CDF-A7E3-DF3D9F01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57625"/>
            <a:ext cx="33337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t>Модель оценивает отклонение только по сохранённым признакам.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6467E-7665-4641-8827-CC79BC99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3333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Объяснимая тревога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95E4F-541B-4094-A423-C198925B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57625"/>
            <a:ext cx="3333750" cy="1571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t>Правила дают причину; ML добавляет контекст, но не изображает вероятность аварии.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79C1CA-1AD0-434F-A168-2D9712A5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760046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akeaway-title">
            <a:extLst xmlns:a="http://schemas.openxmlformats.org/drawingml/2006/main">
              <a:ext uri="{FF2B5EF4-FFF2-40B4-BE49-F238E27FC236}">
                <a16:creationId xmlns:a16="http://schemas.microsoft.com/office/drawing/2014/main" id="{A335617B-7B68-4264-98B6-B52F0E7C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1349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Независимая выборка показывает компромисс между пропусками и ложными тревогами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6473B-BB50-49E2-9FEF-A7BBE44D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71625"/>
            <a:ext cx="4857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Оценка сделана на данных, которые не использовались для обучения. Комбинация повышает полноту, но немного увеличивает долю ложных тревог.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6C2F3-9ED8-48E7-9B1B-C14E27F6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2190750" cy="2238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1F3F5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D25ED-6639-4FCA-8802-4BF5C62F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33750"/>
            <a:ext cx="2190750" cy="2238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1F3F5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3F742-6226-4578-9FC2-09F345CA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1619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10,0%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2EEC7-F89D-4616-9A70-F6F5504D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62500"/>
            <a:ext cx="1619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t>ложных тревог
Isolation Forest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BAB81-BDF0-4110-98E9-359A183D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33800"/>
            <a:ext cx="1619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11,65%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36E69-06E1-4C17-ADED-1D238306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762500"/>
            <a:ext cx="1619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t>ложных тревог
комбинация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B845C-6926-47BF-AE92-2473D60E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00050" y="1476375"/>
          <a:ext xmlns:a="http://schemas.openxmlformats.org/drawingml/2006/main" cx="581025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380a811b7246ee"/>
          </a:graphicData>
        </a:graphic>
      </p:graphicFrame>
    </p:spTree>
    <p:extLst>
      <p:ext uri="{BB962C8B-B14F-4D97-AF65-F5344CB8AC3E}">
        <p14:creationId xmlns:p14="http://schemas.microsoft.com/office/powerpoint/2010/main" val="13791678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akeaway-title">
            <a:extLst xmlns:a="http://schemas.openxmlformats.org/drawingml/2006/main">
              <a:ext uri="{FF2B5EF4-FFF2-40B4-BE49-F238E27FC236}">
                <a16:creationId xmlns:a16="http://schemas.microsoft.com/office/drawing/2014/main" id="{8508B561-C2B6-4C11-AF0E-ED460ED6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Демонстрация повторяет путь данных за 7 минут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CB83D-878C-435F-980E-3CD5F372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571875" cy="36195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1F3F5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E5DD2-A4A2-4335-BCEA-FC6FDA3B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76375"/>
            <a:ext cx="3571875" cy="36195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1F3F5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142CC-D9D5-4407-86A4-D03881C1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76375"/>
            <a:ext cx="3571875" cy="36195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1F3F5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FDE9E-62F6-4903-A7AE-7E16D331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295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1. Запуск и загрузка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D849F-7102-4E52-9EBF-E14D4009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71750"/>
            <a:ext cx="295275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• открыть Streamlit
• выбрать демо-данные
• проверить качество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B55EA-3910-403F-A3A9-A3808702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57375"/>
            <a:ext cx="295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2. Сигнал и тревога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34C62-7EBF-47C5-A36A-20A8717F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95275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• показать график
• найти alarm
• назвать главную причину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29AF7-238C-4305-B38D-90454627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57375"/>
            <a:ext cx="295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3. Объяснение и след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1CBC5-71CE-4005-A476-EC19A322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71750"/>
            <a:ext cx="295275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• раскрыть все правила
• открыть event log
• назвать ограничения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57200" y="5476875"/>
            <a:ext cx="11049000" cy="953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11111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86F35-2065-4205-9DCE-22009A92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97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9C8C5-25CD-416B-8443-F75C2FBA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197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DD2E7-AAB3-4191-9385-4A4EF261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4197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BC185-E711-46E4-A093-FFB6F323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0–2 мин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6ED2AE-B8E4-4BDC-BF3A-135825A0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8102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2–5 мин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FA33F-5F41-42B7-853E-4BC4F806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8102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5–7 мин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BC9DD-32B2-4503-B29C-1518E2FE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722628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akeaway-title">
            <a:extLst xmlns:a="http://schemas.openxmlformats.org/drawingml/2006/main">
              <a:ext uri="{FF2B5EF4-FFF2-40B4-BE49-F238E27FC236}">
                <a16:creationId xmlns:a16="http://schemas.microsoft.com/office/drawing/2014/main" id="{97E11508-01AB-4D53-80D6-D76AB263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094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Честные ограничения задают границу безопасного применения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203D9-971C-46AB-8134-846F8272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Не сертифицировано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A0C7F-FCF8-4197-B704-65287450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4953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t>Учебный монитор не заменяет промышленную систему безопасности.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A845E-C0F1-4E30-97BC-3842762D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Score ≠ риск аварии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5C401-C61A-44B4-BAF3-E8D5A8CA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4953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t>Isolation Forest измеряет необычность, а не вероятность химического инцидента.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F47C8-6D8A-4C8D-9561-2639EC87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Датчик важнее модели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0B31E-B2E4-4078-ABFD-DD2B6C2A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4953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t>Ошибки калибровки и пропуски нельзя исправить одним алгоритмом.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5833C-FFA0-4164-8835-00CA6396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48125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Пороги требуют эксперта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E91F2-3EE2-4657-BEA0-32493EC8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72000"/>
            <a:ext cx="4953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t>Настройки зависят от вещества, аппарата и регламента конкретного процесса.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223A3-23C3-4CDF-B8ED-C2672CE5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116788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E0A4D-9562-4F89-A058-F97FD710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t>ГЛАВНЫЙ ВЫВОД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EC437-4D62-47ED-9193-BCF6E2A5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0287000" cy="2714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Система не просто
поднимает тревогу —
она объясняет её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7D404-B051-49A5-9291-42A877CD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2857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Проверенные данные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00C8F-D4C4-4057-AA7A-7640CEE6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095875"/>
            <a:ext cx="3143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Независимая оценка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BCC72-F034-4A0F-B3CD-1DB11736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95875"/>
            <a:ext cx="3333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Воспроизводимый след</a:t>
            </a:r>
          </a:p>
        </p:txBody>
      </p:sp>
    </p:spTree>
    <p:extLst>
      <p:ext uri="{BB962C8B-B14F-4D97-AF65-F5344CB8AC3E}">
        <p14:creationId xmlns:p14="http://schemas.microsoft.com/office/powerpoint/2010/main" val="1829565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2026-07-28T08:04:10.9730000Z</dcterms:created>
  <dcterms:modified xsi:type="dcterms:W3CDTF">2026-07-28T08:04:10.9730000Z</dcterms:modified>
</coreProperties>
</file>